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03120"/>
            <a:ext cx="137160" cy="2926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9202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Term Deposit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Campaigns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European Retail Bank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Colin Segura</a:t>
            </a:r>
            <a:pPr algn="l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.   </a:t>
            </a:r>
            <a:pPr algn="l" indent="0" marL="0">
              <a:buNone/>
            </a:pPr>
            <a:r>
              <a:rPr lang="en-US" sz="2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Springboard Data Science Career Track</a:t>
            </a:r>
            <a:pPr algn="l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.   </a:t>
            </a:r>
            <a:pPr algn="l" indent="0" marL="0">
              <a:buNone/>
            </a:pPr>
            <a:r>
              <a:rPr lang="en-US" sz="2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Three Final Presentation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6126480"/>
            <a:ext cx="320040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call that does not convert still costs money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035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Portuguese retail bank runs phone campaigns to convert existing customers into term deposit holders. The baseline conversion rate is roughly </a:t>
            </a:r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 16 percent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85 percent of calls still cost agent time, telephony, and operational overhead. For every subscription, five or more calls are effectively wasted.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can we predict who is likely to say yes before dialing, and rank the base so the call center works high-propensity customers first?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1371600"/>
            <a:ext cx="4846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86600" y="19202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beats baselines by a comfortable margin on cross-validated ROC AUC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2x or better conversion lift at the top of the ranked list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interpretable feature importance for marketing stakeholders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8404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5.3:1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858000" y="5212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of non-subscribers to subscribers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current campaign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AND WHAT LIMITS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stakeholders, four honest constraints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554480"/>
            <a:ext cx="1005840" cy="10058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analytics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targeting logic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ranked prospect list to feed the next campaign.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3716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23560" y="1554480"/>
            <a:ext cx="1005840" cy="10058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center ops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Dials the list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capacity is finite. Every low-propensity call is a lost opportunity.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1554480"/>
            <a:ext cx="1005840" cy="10058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2104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ROI number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6760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defend marketing spend to the executive team.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11155680" cy="1920240"/>
          </a:xfrm>
          <a:prstGeom prst="roundRect">
            <a:avLst>
              <a:gd name="adj" fmla="val 5714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617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HONEST CONSTRAINTS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029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vintage:  </a:t>
            </a:r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2008-2010 covers the financial crisis but is 15+ years old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5029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 </a:t>
            </a:r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to 1 rules out accuracy as a metric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56692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CRM depth:  </a:t>
            </a:r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balances, no transactions, no internal customer history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56692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budget:  </a:t>
            </a:r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to 120 hours across wrangling, EDA, modeling, reporting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supervised binary classification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customer attributes known before the call, predict a probability that the customer will subscribe to a term deposit. Rank the base by that probability, cut at a threshold the call center can staff.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plain accuracy?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15.8 percent positive rate, a model that always says no scores 84 percent accuracy and is useless to the business. We need metrics that measure ranking quality on imbalanced data.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time series?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customer being contacted once. There is no dependency between rows a random split would break. Macroeconomic features already capture the when.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920240"/>
            <a:ext cx="5029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PRIMARY, CV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1228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AUC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6968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invariant, robust to class imbalance. Average of 3-fold stratified CV scores on training set.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3017520"/>
            <a:ext cx="5029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3108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1228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 AUC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informative than ROC AUC for rare positive classes. Reported on held-out test set.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4114800"/>
            <a:ext cx="5029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4206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12280" y="4434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at top-k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0" y="4206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fraction of the top-k ranked customers actually subscribe. The number marketers care about.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5212080"/>
            <a:ext cx="5029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5303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5532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profit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69680" y="5303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Dollars at optimal threshold given cost per call and revenue per subscription assumptions.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Bank Marketing (Moro, Cortez and Rita, 2014)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41,188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2900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0936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COVERED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18972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 GROUPS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attributes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4160520"/>
            <a:ext cx="10972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97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occupation, marital, education, credit/loan status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36576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attributes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26280" y="4160520"/>
            <a:ext cx="10972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4297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channel, month, day, prior contact history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36576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Macroeconomic context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21040" y="4160520"/>
            <a:ext cx="10972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297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euribor3m, emp.var.rate, consumer price and confidence indices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41,211 raw rows into 41,188 cleaned rows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37160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'unknown' to NaN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categorical columns use 'unknown' as a missing sentinel. Converted to true NaN, with indicator flags for default (21%) and education (4%).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371600"/>
            <a:ext cx="137160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pdays = 999 recoded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999 encodes 'never previously contacted'. Preserved via was_contacted_before indicator; numeric column is median imputed.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71800"/>
            <a:ext cx="137160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Dropped call duration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520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zero-second call implies 'no' by definition. The feature leaks the outcome and cannot be used before the call is placed.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97180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971800"/>
            <a:ext cx="137160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Removed 23 duplicates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520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rows from source system re-exports. These are system artifacts, not real second observations.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572000"/>
            <a:ext cx="137160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encoded 0/1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5120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'yes'/'no' string target was encoded numerically for all downstream modeling tools.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57200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572000"/>
            <a:ext cx="137160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order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5120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and day_of_week converted to ordered categoricals so charts and tree models render them chronologically.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6172200"/>
            <a:ext cx="11155680" cy="457200"/>
          </a:xfrm>
          <a:prstGeom prst="roundRect">
            <a:avLst>
              <a:gd name="adj" fmla="val 16000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the leaky call duration feature was the single most consequential wrangling decision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.  TARGET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target is imbalanced at 5.3 to 1</a:t>
            </a:r>
            <a:endParaRPr lang="en-US" sz="2800" dirty="0"/>
          </a:p>
        </p:txBody>
      </p:sp>
      <p:pic>
        <p:nvPicPr>
          <p:cNvPr id="4" name="Image 0" descr="/home/claude/c3_docs/reports/figures/01_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7724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37160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1417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68680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0" y="265176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5.3:1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68680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0" y="393192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0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41.2K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68680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5532120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.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rules out plain accuracy. ROC AUC, PR AUC, and precision at top-k are the metrics that matter.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.  THE HEADLINE CHART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categorical features drive almost all the signal</a:t>
            </a:r>
            <a:endParaRPr lang="en-US" sz="2400" dirty="0"/>
          </a:p>
        </p:txBody>
      </p:sp>
      <p:pic>
        <p:nvPicPr>
          <p:cNvPr id="4" name="Image 0" descr="/home/claude/c3_docs/reports/figures/04_subscription_by_categor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77240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32104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2.7x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41832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21040" y="2240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(20.5%) vs telephone (7.6%). The single most actionable lever.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21040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4.4x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41832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321040" y="3429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Dec/Mar/Sep/Oct convert 45-53%, versus May at just 12%.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2104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3.4x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41832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321040" y="4617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(35%), retired (31%), unemployed (25%). Blue collar at 10%.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21040" y="5303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3.5x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418320" y="5349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Poutcome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21040" y="5806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success converts 53% versus 15% for no prior contact.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.  NUMERIC + 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signal is modest; age is non-linear</a:t>
            </a:r>
            <a:endParaRPr lang="en-US" sz="2600" dirty="0"/>
          </a:p>
        </p:txBody>
      </p:sp>
      <p:pic>
        <p:nvPicPr>
          <p:cNvPr id="4" name="Image 0" descr="/home/claude/c3_docs/reports/figures/05_subscription_by_nume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6858000" cy="3657600"/>
          </a:xfrm>
          <a:prstGeom prst="rect">
            <a:avLst/>
          </a:prstGeom>
        </p:spPr>
      </p:pic>
      <p:pic>
        <p:nvPicPr>
          <p:cNvPr id="5" name="Image 1" descr="/home/claude/c3_docs/reports/figures/06_correlat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937760"/>
            <a:ext cx="6858000" cy="1645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98080" y="1280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OBSERVATIONS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498080" y="1737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2104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U-shaped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498080" y="22402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under 25 and over 65 convert well above baseline. Tree models capture this natively; linear models would need binning.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498080" y="3337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32104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cluster is redundant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498080" y="38404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euribor3m, emp.var.rate, and nr.employed are near-perfect correlates. Keeping one is enough; drop the other two.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498080" y="4937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8321040" y="4983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correlations top ~0.08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498080" y="54406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numeric feature carries standalone signal. The real signal lives in the categoricals (prior slide).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. 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clean data to model-ready splits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Impute remaining missing values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0" y="14630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Categoricals filled with 'missing' category. pdays median imputed. Indicator flags from wrangling preserved.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3 redundant socio-economic columns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0" y="23774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cons.price.idx, cons.conf.idx, nr.employed are near-duplicates of euribor3m. Keep one, drop the rest.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246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One-hot encode with drop_first=True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32918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19 features to 52. drop_first avoids numerical instability for linear models; trees do not care.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160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80/20 stratified train/test split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42062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random_state=42. Stratified preserves the 15.8% positive rate in both partitions. 32,950 train / 8,238 test.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074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 fit on training only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26480" y="51206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on the full data would leak test statistics into training. Linear models need it; tree models do not.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.  MODELING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baselines, three ML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Majority Class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predicts no. ROC AUC = 0.500 by construction. Defines the mathematical floor.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554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3212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three-feature rule from EDA. What a marketer could ship in an afternoon.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37160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554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41832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183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regularized. GridSearchCV over C. class_weight='balanced' for the imbalance.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61188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3794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926080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TREES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011680" y="4709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patterns and interactions natively. Tuned depth and leaf size.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61188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794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406640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TREES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0664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92240" y="4709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trees. Typically strongest on tabular data. The proposal's committed architecture.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94360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943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METRIC  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ROC AUC on the training set, with 3-fold stratified splits. Winner evaluated once on held-out test.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.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wins by a narrow margin</a:t>
            </a:r>
            <a:endParaRPr lang="en-US" sz="2800" dirty="0"/>
          </a:p>
        </p:txBody>
      </p:sp>
      <p:pic>
        <p:nvPicPr>
          <p:cNvPr id="4" name="Image 0" descr="/home/claude/c3_docs/reports/figures/07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68580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371600"/>
            <a:ext cx="4297680" cy="2926080"/>
          </a:xfrm>
          <a:prstGeom prst="roundRect">
            <a:avLst>
              <a:gd name="adj" fmla="val 4688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8096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8096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(tuned)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80960" y="26517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 AUC 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max_depth=3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learning_rate=0.1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5166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0.745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548640" y="5806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 AUC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29000" y="50292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9000" y="5166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0.740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3429000" y="5806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 AUC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50292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5166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0.381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6309360" y="5806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 AUC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189720" y="50292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89720" y="5166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2.8x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9189720" y="5806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lift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4434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ML models land within 0.7 points of each other. Signal is close to linear once categoricals are encoded.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.  WHAT THE MODEL RELIES 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+28% expected profit over call-everyone</a:t>
            </a:r>
            <a:endParaRPr lang="en-US" sz="2800" dirty="0"/>
          </a:p>
        </p:txBody>
      </p:sp>
      <p:pic>
        <p:nvPicPr>
          <p:cNvPr id="4" name="Image 0" descr="/home/claude/c3_docs/reports/figures/10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5303520" cy="5029200"/>
          </a:xfrm>
          <a:prstGeom prst="rect">
            <a:avLst/>
          </a:prstGeom>
        </p:spPr>
      </p:pic>
      <p:pic>
        <p:nvPicPr>
          <p:cNvPr id="5" name="Image 1" descr="/home/claude/c3_docs/reports/figures/09_threshold_prof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6035040" cy="2743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0720" y="4206240"/>
            <a:ext cx="6035040" cy="2194560"/>
          </a:xfrm>
          <a:prstGeom prst="roundRect">
            <a:avLst>
              <a:gd name="adj" fmla="val 5000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0" y="4343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 .  AT $8/CALL AND $80/SUB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943600" y="4709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$49,280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94360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profit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955280" y="4709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$38,416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795528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Call-everyone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966960" y="4709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+$10,864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996696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43600" y="5852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threshold: 0.09.  Top 10% precision: 45% (2.8x lift over random targeting).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 .  MARKETING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ranked model output as the primary targeting input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10 percent cutoff, model-targeted calls convert 2.8 times better than random. The ranked list gives operations the flexibility a hard rule cannot.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full eligible customer base at the start of each campaign. Cut at the threshold Finance picks based on current cost per call and revenue per subscription.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profit lift of 28 percent at illustrative pricing. Even modest adoption on a single campaign produces lift in the low tens of thousands of dollars.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2  .  CALL CENTER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campaign volume into the high conversion months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(53%), March (49%), September (46%), October (46%) convert 3 to 4 times higher than May (12%). The current pattern of concentrating in May is backwards.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 dial volume into those four high conversion months. This is a timing change, not a model dependency; implementable without ML deployment.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 cost, immediate conversion lift. Pairs with Recommendation 1 but captures value even if the model is not deployed on day one.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  .  PRODUCT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dedicated offer for the high propensity segments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(35%), retired (31%), and unemployed (25%) subscribe at 2 to 3 times the overall baseline. The job segments split cleanly along life stage lines.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 segment specific term deposit offer or communication tier for these groups. Product team owns design; marketing analytics provides targeting.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44805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493776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50292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Deepens the natural advantage already present in the data. Lower acquisition cost per subscription in a cohort that already converts well above baseline.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here works. What's next makes it deployable.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vintage. </a:t>
            </a:r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2008-2010 covers the financial crisis but is 15+ years old. Specific segment findings are directional.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features. </a:t>
            </a:r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balance, no transactions, no full CRM. Internal bank data would push test AUC higher.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stack. </a:t>
            </a:r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sklearn's GradientBoosting used for portability. XGBoost/LightGBM are drop-in replacements for production.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1663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Calibration. </a:t>
            </a:r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 probabilities are miscalibrated by default. CalibratedClassifierCV fixes this.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4864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951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explanations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95160" y="26700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explanations for the marketing team.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520440"/>
            <a:ext cx="54864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9516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in production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95160" y="39044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First-campaign test with conversion rate as primary KPI.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754880"/>
            <a:ext cx="54864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9516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retraining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95160" y="51389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features shift materially across quarters.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Term Deposit Marketing Campaigns for a European Bank</dc:title>
  <dc:subject>PptxGenJS Presentation</dc:subject>
  <dc:creator>Colin Segura</dc:creator>
  <cp:lastModifiedBy>Colin Segura</cp:lastModifiedBy>
  <cp:revision>1</cp:revision>
  <dcterms:created xsi:type="dcterms:W3CDTF">2026-10-30T01:48:05Z</dcterms:created>
  <dcterms:modified xsi:type="dcterms:W3CDTF">2026-10-30T01:48:05Z</dcterms:modified>
</cp:coreProperties>
</file>