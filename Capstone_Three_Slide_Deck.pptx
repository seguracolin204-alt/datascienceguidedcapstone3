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03120"/>
            <a:ext cx="137160" cy="2926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9202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Term Deposit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Campaigns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European Retail Bank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Colin Segura</a:t>
            </a:r>
            <a:pPr algn="l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.   </a:t>
            </a:r>
            <a:pPr algn="l" indent="0" marL="0">
              <a:buNone/>
            </a:pPr>
            <a:r>
              <a:rPr lang="en-US" sz="2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Springboard Data Science Career Track</a:t>
            </a:r>
            <a:pPr algn="l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.   </a:t>
            </a:r>
            <a:pPr algn="l" indent="0" marL="0">
              <a:buNone/>
            </a:pPr>
            <a:r>
              <a:rPr lang="en-US" sz="2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Three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6126480"/>
            <a:ext cx="3200400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call that does not convert still costs money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Portuguese retail bank runs phone campaigns to convert existing customers into term deposit holders. The baseline conversion rate is roughly </a:t>
            </a:r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to 16 percent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85 percent of calls still cost agent time, telephony, and operational overhead. For every subscription, five or more calls are effectively wasted.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can we predict who is likely to say yes before dialing?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5.3:1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6858000" y="45720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of non-subscribers to subscribers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current campaign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FROM A BETTER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stakeholders are already paying for the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2103120"/>
            <a:ext cx="1005840" cy="10058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analytics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targeting logic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ranked prospect list to feed the next campaign. Current rules-based targeting is static and leaves lift on the table.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23560" y="2103120"/>
            <a:ext cx="1005840" cy="10058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2628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center ops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628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Dials the list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2976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capacity is finite. Every low-propensity call is a lost opportunity to make a higher-propensity one.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2103120"/>
            <a:ext cx="1005840" cy="10058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2104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2104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ROI number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42976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defend marketing spend to the executive team. A model-driven lift is a defensible answer in a rate case.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UCI Bank Marketing (Moro, Cortez and Rita, 2014)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41,188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2900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0936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COVERED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8972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15.8%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18972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 GROUPS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attributes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4160520"/>
            <a:ext cx="10972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97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occupation, marital, education, credit/loan status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36576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attributes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26280" y="4160520"/>
            <a:ext cx="10972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4297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channel, month, day, prior contact history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36576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Macroeconomic context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21040" y="4160520"/>
            <a:ext cx="10972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297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euribor3m, emp.var.rate, consumer price and confidence indices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Science Method, applied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wrangling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03520" y="1828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Recode 'unknown' sentinels, drop the leaky duration column, encode target, dedupe.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03520" y="2743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distributions, subscription rate by segment, correlations, chi-square tests.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3657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missing, one-hot encode, 80/20 stratified split, scale on training set only.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526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03520" y="45720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3 ML models and 2 baselines with 3-fold CV, tune hyperparameters via GridSearchCV.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48640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440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03520" y="5486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test, precision at top-k, expected profit at optimal threshold, feature importance.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41,211 raw rows into 41,188 cleaned rows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137160" cy="1417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'unknown' to NaN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categorical columns use the string 'unknown' as a missing sentinel. Converted to true NaN, with indicator flags for default (21%) and education (4%).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645920"/>
            <a:ext cx="137160" cy="1417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pdays = 999 recoded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999 encodes 'never previously contacted'. Preserved via was_contacted_before indicator; the numeric column is median imputed.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46120"/>
            <a:ext cx="137160" cy="1417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Dropped call duration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794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zero-second call implies 'no' by definition. The feature leaks the outcome and must not be used by a model that scores customers before the call.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24612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246120"/>
            <a:ext cx="137160" cy="1417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Removed 23 duplicates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794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rows from source system re-exports. These are system artifacts, not real second observations.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846320"/>
            <a:ext cx="137160" cy="1417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encoded 0/1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53949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'yes'/'no' string target was encoded numerically for all downstream modeling tools.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84632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4846320"/>
            <a:ext cx="137160" cy="1417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order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53949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and day_of_week converted to ordered categoricals so charts and tree models render them chronologically.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.  UNIVARIATE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target is imbalanced at 5.3 to 1</a:t>
            </a:r>
            <a:endParaRPr lang="en-US" sz="2800" dirty="0"/>
          </a:p>
        </p:txBody>
      </p:sp>
      <p:pic>
        <p:nvPicPr>
          <p:cNvPr id="4" name="Image 0" descr="/home/claude/c3_docs/reports/figures/01_targ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7724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37160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1417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15.8%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68680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6800" y="265176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5.3:1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68680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0" y="393192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0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41.2K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686800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5532120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5532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.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rules out plain accuracy. ROC AUC, PR AUC, and precision at top-k are the metrics that matter.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.  THE HEADLINE CHART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categorical features drive almost all the signal</a:t>
            </a:r>
            <a:endParaRPr lang="en-US" sz="2600" dirty="0"/>
          </a:p>
        </p:txBody>
      </p:sp>
      <p:pic>
        <p:nvPicPr>
          <p:cNvPr id="4" name="Image 0" descr="/home/claude/c3_docs/reports/figures/04_subscription_by_categor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772400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32104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2.7x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41832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21040" y="2240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(20.5%) vs telephone (7.6%). The single most actionable lever.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21040" y="2926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4.4x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41832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321040" y="3429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Dec/Mar/Sep/Oct convert 45-53%, versus May at just 12%.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2104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3.4x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41832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321040" y="4617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(35%), retired (31%), unemployed (25%). Blue collar at 10%.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21040" y="5303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3.5x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418320" y="5349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Poutcome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21040" y="5806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success converts 53% versus 15% for no prior contact.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.  CORRELATIONS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features are modest; signal is in the categoricals</a:t>
            </a:r>
            <a:endParaRPr lang="en-US" sz="2400" dirty="0"/>
          </a:p>
        </p:txBody>
      </p:sp>
      <p:pic>
        <p:nvPicPr>
          <p:cNvPr id="4" name="Image 0" descr="/home/claude/c3_docs/reports/figures/06_correlat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658368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13232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modest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correlations top out around +0.08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0" y="24688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the socio economic cluster are the strongest numeric predictors, but no numeric feature is a standalone signal.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3232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0.90+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0" y="3291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 economic cluster is redundant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0" y="4069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euribor3m, emp.var.rate, and nr.employed are near-perfect correlates of each other. Keeping one of the three is enough.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32320" y="4846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U-shape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686800" y="4892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non-linear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132320" y="56692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under 25 and over 65 convert well above baseline. Tree models capture this natively; linear models need binning.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. 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clean data to model-ready splits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508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Impute remaining missing values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0" y="15544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Categoricals filled with 'missing' category. pdays median imputed. Already have indicator flags from wrangling.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468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3 redundant socio-economic columns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6480" y="251460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cons.price.idx, cons.conf.idx, nr.employed are near-duplicates of euribor3m. Keep one, drop the rest.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429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One-hot encode with drop_first=True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34747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19 features to 52. drop_first avoids numerical instability for linear models; trees do not care.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389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80/20 stratified train/test split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44348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random_state=42. Stratified preserves the 15.8% positive rate in both partitions. 32,950 train / 8,238 test.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9496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349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 fit on training only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26480" y="53949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on the full data would leak test statistics into training. Linear models need it; tree models do not.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.  CANDIDATES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baselines, three ML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Majority Class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predicts no. ROC AUC = 0.500 by construction. Defines the mathematical floor every ML model must clear.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920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3212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3212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Targeting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2834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three-feature rule from EDA: cellular AND high-conversion month AND high-conversion job. What a marketer could ship in an afternoon.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73736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920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41832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. INTERPRETABLE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1832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2834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regularized linear model. Hyperparameter C tuned over GridSearchCV. class_weight='balanced' for the imbalance.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97764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4160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92608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. BAGGED TREES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4480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011680" y="5074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patterns and feature interactions natively. Tuned n_estimators, max_depth, min_samples_leaf.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97764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160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40664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. BOOSTED TREES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06640" y="4480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92240" y="5074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trees, each correcting the previous. Typically strongest on tabular business data. The proposal's committed architecture.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.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wins by a narrow margin</a:t>
            </a:r>
            <a:endParaRPr lang="en-US" sz="2800" dirty="0"/>
          </a:p>
        </p:txBody>
      </p:sp>
      <p:pic>
        <p:nvPicPr>
          <p:cNvPr id="4" name="Image 0" descr="/home/claude/c3_docs/reports/figures/07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68580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371600"/>
            <a:ext cx="4297680" cy="2926080"/>
          </a:xfrm>
          <a:prstGeom prst="roundRect">
            <a:avLst>
              <a:gd name="adj" fmla="val 4688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68096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68096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 (tuned)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80960" y="26517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 AUC 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max_depth=3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learning_rate=0.1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5166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0.745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548640" y="5806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 AUC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29000" y="502920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29000" y="5166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0.740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3429000" y="5806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 AUC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502920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5166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0.381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6309360" y="5806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 AUC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189720" y="502920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89720" y="5166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2.8x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9189720" y="5806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lift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4434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ML models land within 0.7 points of each other. The signal is close to linear once categoricals are one hot encoded.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.  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actually relies on</a:t>
            </a:r>
            <a:endParaRPr lang="en-US" sz="2800" dirty="0"/>
          </a:p>
        </p:txBody>
      </p:sp>
      <p:pic>
        <p:nvPicPr>
          <p:cNvPr id="4" name="Image 0" descr="/home/claude/c3_docs/reports/figures/10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694944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8096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96112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contact_telephone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0" y="2286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sign. Cellular is far better than telephone, confirming the EDA's biggest finding.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0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96112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80960" y="3429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U-shape across the age distribution. The non-linearity is captured natively by tree splits.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80960" y="4069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#3-6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96112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seasonality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0" y="4572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mar, sep, oct, dec all rank in the top 7. Confirms the EDA seasonal signal.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680960" y="5212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#7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961120" y="5303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poutcome_success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680960" y="5715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segment but powerful: prior-success customers convert at 53%.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+28% expected profit over call-everyone</a:t>
            </a:r>
            <a:endParaRPr lang="en-US" sz="3000" dirty="0"/>
          </a:p>
        </p:txBody>
      </p:sp>
      <p:pic>
        <p:nvPicPr>
          <p:cNvPr id="4" name="Image 0" descr="/home/claude/c3_docs/reports/figures/09_threshold_pro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694944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371600"/>
            <a:ext cx="4297680" cy="3108960"/>
          </a:xfrm>
          <a:prstGeom prst="roundRect">
            <a:avLst>
              <a:gd name="adj" fmla="val 4412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$8/CALL, $80/SUB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80960" y="1828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$49,280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680960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profit at optimal threshold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31089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call-everyone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$38,416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 </a:t>
            </a:r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+$10,864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threshold: 0.09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8463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937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48640" y="5486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5852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 lift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29000" y="48463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4937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3429000" y="5486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29000" y="5852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 lift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09360" y="48463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4937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6309360" y="5486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5852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 lift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189720" y="48463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89720" y="4937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9189720" y="5486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189720" y="5852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 .  MARKETING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3108960" y="11887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ranked model output as the primary targeting input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10 percent cutoff, model-targeted calls convert 2.8 times better than random. The ranked list gives operations the flexibility a hard rule cannot.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full eligible customer base at the start of each campaign. Cut at the threshold Finance picks based on current cost per call and revenue per subscription figures.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profit lift of 28 percent at illustrative pricing. Even modest adoption on a single campaign produces lift in the low tens of thousands of dollars.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2  .  CALL CENTER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3108960" y="11887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campaign volume into the high conversion months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(53%), March (49%), September (46%), October (46%) convert 3 to 4 times higher than May (12%). The current pattern of concentrating campaign volume in May is backwards.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Redistribute dial volume into those four high conversion months. This is a timing change, not a model dependency, and can be implemented without any ML deployment work.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 cost, immediate conversion lift. Pairs well with Recommendation 1 but captures value even if the model is not deployed on day one.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3  .  PRODUCT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3108960" y="11887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dedicated offer for the high propensity segments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(35%), retired (31%), and unemployed (25%) subscribe at 2 to 3 times the overall baseline. The job segments split cleanly along life stage lines.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 segment specific term deposit offer or communication tier for these groups. The term deposit product team owns the design; marketing analytics provides the targeting.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Deepens the natural advantage already present in the data. Lower acquisition cost per subscription in a cohort that already converts well above baseline.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here works. What's next makes it deployable.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vintage. </a:t>
            </a:r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2008-2010 covers the financial crisis but is 15+ years old. Specific segment findings are directional.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features. </a:t>
            </a:r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balance, no transactions, no full CRM. Internal bank data would push test AUC higher.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stack. </a:t>
            </a:r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sklearn's GradientBoosting is used for portability. XGBoost/LightGBM are drop-in replacements for production.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51663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Calibration. </a:t>
            </a:r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 probabilities are miscalibrated by default. CalibratedClassifierCV fixes this.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548640" cy="5486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9516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explanations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95160" y="267004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explanations for the marketing team.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520440"/>
            <a:ext cx="548640" cy="5486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9516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in production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95160" y="39044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First-campaign test with conversion rate as primary KPI.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4754880"/>
            <a:ext cx="548640" cy="5486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9516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retraining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95160" y="51389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features shift materially across quarters.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Term Deposit Marketing Campaigns for a European Bank</dc:title>
  <dc:subject>PptxGenJS Presentation</dc:subject>
  <dc:creator>Colin Segura</dc:creator>
  <cp:lastModifiedBy>Colin Segura</cp:lastModifiedBy>
  <cp:revision>1</cp:revision>
  <dcterms:created xsi:type="dcterms:W3CDTF">2026-10-30T01:33:18Z</dcterms:created>
  <dcterms:modified xsi:type="dcterms:W3CDTF">2026-10-30T01:33:18Z</dcterms:modified>
</cp:coreProperties>
</file>